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8288000" cy="10287000"/>
  <p:notesSz cx="6858000" cy="9144000"/>
  <p:embeddedFontLst>
    <p:embeddedFont>
      <p:font typeface="Canva Sans" panose="020B0604020202020204" charset="0"/>
      <p:regular r:id="rId7"/>
    </p:embeddedFont>
    <p:embeddedFont>
      <p:font typeface="Canva Sans Bold" panose="020B0604020202020204" charset="0"/>
      <p:regular r:id="rId8"/>
    </p:embeddedFont>
    <p:embeddedFont>
      <p:font typeface="Helios" panose="020B0604020202020204" charset="0"/>
      <p:regular r:id="rId9"/>
    </p:embeddedFont>
    <p:embeddedFont>
      <p:font typeface="Klein Bold" panose="020B0604020202020204" charset="0"/>
      <p:regular r:id="rId10"/>
    </p:embeddedFont>
    <p:embeddedFont>
      <p:font typeface="Nunito ExtraBold" panose="00000900000000000000" pitchFamily="2" charset="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9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66927" y="-4280359"/>
            <a:ext cx="10812392" cy="10812392"/>
          </a:xfrm>
          <a:custGeom>
            <a:avLst/>
            <a:gdLst/>
            <a:ahLst/>
            <a:cxnLst/>
            <a:rect l="l" t="t" r="r" b="b"/>
            <a:pathLst>
              <a:path w="10812392" h="10812392">
                <a:moveTo>
                  <a:pt x="0" y="0"/>
                </a:moveTo>
                <a:lnTo>
                  <a:pt x="10812393" y="0"/>
                </a:lnTo>
                <a:lnTo>
                  <a:pt x="10812393" y="10812392"/>
                </a:lnTo>
                <a:lnTo>
                  <a:pt x="0" y="1081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962025"/>
            <a:ext cx="4906449" cy="1053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9"/>
              </a:lnSpc>
            </a:pPr>
            <a:r>
              <a:rPr lang="en-US" sz="3049">
                <a:solidFill>
                  <a:srgbClr val="F4F4F4"/>
                </a:solidFill>
                <a:latin typeface="Helios"/>
                <a:ea typeface="Helios"/>
                <a:cs typeface="Helios"/>
                <a:sym typeface="Helios"/>
              </a:rPr>
              <a:t>FSD-1 INDIVIDUAL</a:t>
            </a:r>
          </a:p>
          <a:p>
            <a:pPr algn="l">
              <a:lnSpc>
                <a:spcPts val="4269"/>
              </a:lnSpc>
              <a:spcBef>
                <a:spcPct val="0"/>
              </a:spcBef>
            </a:pPr>
            <a:r>
              <a:rPr lang="en-US" sz="3049">
                <a:solidFill>
                  <a:srgbClr val="F4F4F4"/>
                </a:solidFill>
                <a:latin typeface="Helios"/>
                <a:ea typeface="Helios"/>
                <a:cs typeface="Helios"/>
                <a:sym typeface="Helios"/>
              </a:rPr>
              <a:t>PROJECT</a:t>
            </a:r>
          </a:p>
        </p:txBody>
      </p:sp>
      <p:sp>
        <p:nvSpPr>
          <p:cNvPr id="4" name="Freeform 4"/>
          <p:cNvSpPr/>
          <p:nvPr/>
        </p:nvSpPr>
        <p:spPr>
          <a:xfrm>
            <a:off x="-3407200" y="4432068"/>
            <a:ext cx="5764383" cy="5764383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078" y="7902203"/>
            <a:ext cx="5764383" cy="5764383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2"/>
                </a:lnTo>
                <a:lnTo>
                  <a:pt x="0" y="5764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627148" y="2803574"/>
            <a:ext cx="11017392" cy="399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07"/>
              </a:lnSpc>
            </a:pPr>
            <a:r>
              <a:rPr lang="en-US" sz="8756" b="1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Image Processing and Classification Website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235421" y="7619313"/>
            <a:ext cx="10690114" cy="497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9"/>
              </a:lnSpc>
            </a:pPr>
            <a:r>
              <a:rPr lang="en-US" sz="2928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Prepared by:-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215597" y="8226681"/>
            <a:ext cx="278391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Satyam Maru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15597" y="8921371"/>
            <a:ext cx="364271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23002171210066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35421" y="9616061"/>
            <a:ext cx="217372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Roll no: 31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A1F56E-62F3-7DF1-45EE-A5EA663FB1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8935" y="218786"/>
            <a:ext cx="991877" cy="10385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838850-8CAF-9A03-74C6-D2424E3AB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10134600" y="218786"/>
            <a:ext cx="3152518" cy="6038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507438" y="-1302922"/>
            <a:ext cx="12614252" cy="12614252"/>
          </a:xfrm>
          <a:custGeom>
            <a:avLst/>
            <a:gdLst/>
            <a:ahLst/>
            <a:cxnLst/>
            <a:rect l="l" t="t" r="r" b="b"/>
            <a:pathLst>
              <a:path w="12614252" h="12614252">
                <a:moveTo>
                  <a:pt x="0" y="0"/>
                </a:moveTo>
                <a:lnTo>
                  <a:pt x="12614253" y="0"/>
                </a:lnTo>
                <a:lnTo>
                  <a:pt x="12614253" y="12614252"/>
                </a:lnTo>
                <a:lnTo>
                  <a:pt x="0" y="12614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3328874"/>
            <a:ext cx="6278177" cy="344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1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Image </a:t>
            </a:r>
          </a:p>
          <a:p>
            <a:pPr algn="l">
              <a:lnSpc>
                <a:spcPts val="9099"/>
              </a:lnSpc>
            </a:pPr>
            <a:r>
              <a:rPr lang="en-US" sz="6999" b="1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Editing </a:t>
            </a:r>
          </a:p>
          <a:p>
            <a:pPr algn="l">
              <a:lnSpc>
                <a:spcPts val="9099"/>
              </a:lnSpc>
            </a:pPr>
            <a:r>
              <a:rPr lang="en-US" sz="6999" b="1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Tools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422970" y="216837"/>
            <a:ext cx="6563662" cy="988294"/>
            <a:chOff x="0" y="0"/>
            <a:chExt cx="8751549" cy="1317726"/>
          </a:xfrm>
        </p:grpSpPr>
        <p:sp>
          <p:nvSpPr>
            <p:cNvPr id="5" name="TextBox 5"/>
            <p:cNvSpPr txBox="1"/>
            <p:nvPr/>
          </p:nvSpPr>
          <p:spPr>
            <a:xfrm>
              <a:off x="0" y="-19050"/>
              <a:ext cx="8751549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004AAD"/>
                  </a:solidFill>
                  <a:latin typeface="Klein Bold"/>
                  <a:ea typeface="Klein Bold"/>
                  <a:cs typeface="Klein Bold"/>
                  <a:sym typeface="Klein Bold"/>
                </a:rPr>
                <a:t>Grayscale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770567"/>
              <a:ext cx="875154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Convert images to black and white.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22970" y="1545443"/>
            <a:ext cx="6563662" cy="988294"/>
            <a:chOff x="0" y="0"/>
            <a:chExt cx="8751549" cy="1317726"/>
          </a:xfrm>
        </p:grpSpPr>
        <p:sp>
          <p:nvSpPr>
            <p:cNvPr id="8" name="TextBox 8"/>
            <p:cNvSpPr txBox="1"/>
            <p:nvPr/>
          </p:nvSpPr>
          <p:spPr>
            <a:xfrm>
              <a:off x="0" y="-19050"/>
              <a:ext cx="8751549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004AAD"/>
                  </a:solidFill>
                  <a:latin typeface="Klein Bold"/>
                  <a:ea typeface="Klein Bold"/>
                  <a:cs typeface="Klein Bold"/>
                  <a:sym typeface="Klein Bold"/>
                </a:rPr>
                <a:t>Resize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770567"/>
              <a:ext cx="875154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Adjust image dimensions.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22970" y="2950297"/>
            <a:ext cx="6563662" cy="988294"/>
            <a:chOff x="0" y="0"/>
            <a:chExt cx="8751549" cy="1317726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19050"/>
              <a:ext cx="8751549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004AAD"/>
                  </a:solidFill>
                  <a:latin typeface="Klein Bold"/>
                  <a:ea typeface="Klein Bold"/>
                  <a:cs typeface="Klein Bold"/>
                  <a:sym typeface="Klein Bold"/>
                </a:rPr>
                <a:t>Blur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770567"/>
              <a:ext cx="8751549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Apply Gaussian or median blur.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22970" y="4438724"/>
            <a:ext cx="7358471" cy="1426444"/>
            <a:chOff x="0" y="0"/>
            <a:chExt cx="9811295" cy="1901926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9050"/>
              <a:ext cx="9811295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004AAD"/>
                  </a:solidFill>
                  <a:latin typeface="Klein Bold"/>
                  <a:ea typeface="Klein Bold"/>
                  <a:cs typeface="Klein Bold"/>
                  <a:sym typeface="Klein Bold"/>
                </a:rPr>
                <a:t>Edge Detection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770567"/>
              <a:ext cx="9811295" cy="1131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Identify object boundaries using techniques like Canny edge detection.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22970" y="6113965"/>
            <a:ext cx="7926193" cy="1426444"/>
            <a:chOff x="0" y="0"/>
            <a:chExt cx="10568257" cy="1901926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19050"/>
              <a:ext cx="10568257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004AAD"/>
                  </a:solidFill>
                  <a:latin typeface="Klein Bold"/>
                  <a:ea typeface="Klein Bold"/>
                  <a:cs typeface="Klein Bold"/>
                  <a:sym typeface="Klein Bold"/>
                </a:rPr>
                <a:t>Morphology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770567"/>
              <a:ext cx="10568257" cy="1131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Apply operations like erosion and dilation for noise reduction and shape refinement.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422970" y="9228474"/>
            <a:ext cx="8766420" cy="988294"/>
            <a:chOff x="0" y="0"/>
            <a:chExt cx="11688560" cy="1317726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19050"/>
              <a:ext cx="1168856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004AAD"/>
                  </a:solidFill>
                  <a:latin typeface="Klein Bold"/>
                  <a:ea typeface="Klein Bold"/>
                  <a:cs typeface="Klein Bold"/>
                  <a:sym typeface="Klein Bold"/>
                </a:rPr>
                <a:t>Thresholding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770567"/>
              <a:ext cx="11688560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Convert images to binary form based on intensity levels.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422970" y="7899819"/>
            <a:ext cx="8766420" cy="988294"/>
            <a:chOff x="0" y="0"/>
            <a:chExt cx="11688560" cy="1317726"/>
          </a:xfrm>
        </p:grpSpPr>
        <p:sp>
          <p:nvSpPr>
            <p:cNvPr id="23" name="TextBox 23"/>
            <p:cNvSpPr txBox="1"/>
            <p:nvPr/>
          </p:nvSpPr>
          <p:spPr>
            <a:xfrm>
              <a:off x="0" y="-19050"/>
              <a:ext cx="1168856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004AAD"/>
                  </a:solidFill>
                  <a:latin typeface="Klein Bold"/>
                  <a:ea typeface="Klein Bold"/>
                  <a:cs typeface="Klein Bold"/>
                  <a:sym typeface="Klein Bold"/>
                </a:rPr>
                <a:t>Brightness Control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770567"/>
              <a:ext cx="11688560" cy="5471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Adjust image brightness dynamically.</a:t>
              </a: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72C9C0A8-33BE-9A5A-8324-470C7DF90D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12772904" y="166762"/>
            <a:ext cx="3152518" cy="60384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4BA7DDE-382B-EDAD-5934-25DF522DFC0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2600" y="154780"/>
            <a:ext cx="991877" cy="10385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00262" y="2535487"/>
            <a:ext cx="1621594" cy="1621594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508998" y="6276492"/>
            <a:ext cx="1621594" cy="1621594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959784" y="6515788"/>
            <a:ext cx="5585113" cy="1768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59"/>
              </a:lnSpc>
              <a:spcBef>
                <a:spcPct val="0"/>
              </a:spcBef>
            </a:pPr>
            <a:r>
              <a:rPr lang="en-US" sz="3799" b="1" dirty="0">
                <a:solidFill>
                  <a:srgbClr val="718BAB"/>
                </a:solidFill>
                <a:latin typeface="Klein Bold"/>
                <a:ea typeface="Klein Bold"/>
                <a:cs typeface="Klein Bold"/>
                <a:sym typeface="Klein Bold"/>
              </a:rPr>
              <a:t>Uses Convolutional</a:t>
            </a:r>
          </a:p>
          <a:p>
            <a:pPr marL="0" lvl="0" indent="0" algn="l">
              <a:lnSpc>
                <a:spcPts val="4559"/>
              </a:lnSpc>
              <a:spcBef>
                <a:spcPct val="0"/>
              </a:spcBef>
            </a:pPr>
            <a:r>
              <a:rPr lang="en-US" sz="3799" b="1" dirty="0">
                <a:solidFill>
                  <a:srgbClr val="718BAB"/>
                </a:solidFill>
                <a:latin typeface="Klein Bold"/>
                <a:ea typeface="Klein Bold"/>
                <a:cs typeface="Klein Bold"/>
                <a:sym typeface="Klein Bold"/>
              </a:rPr>
              <a:t>Neural Network (CNN).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9411059" cy="10287000"/>
            <a:chOff x="0" y="0"/>
            <a:chExt cx="2478633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78633" cy="2709333"/>
            </a:xfrm>
            <a:custGeom>
              <a:avLst/>
              <a:gdLst/>
              <a:ahLst/>
              <a:cxnLst/>
              <a:rect l="l" t="t" r="r" b="b"/>
              <a:pathLst>
                <a:path w="2478633" h="2709333">
                  <a:moveTo>
                    <a:pt x="0" y="0"/>
                  </a:moveTo>
                  <a:lnTo>
                    <a:pt x="2478633" y="0"/>
                  </a:lnTo>
                  <a:lnTo>
                    <a:pt x="24786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7863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2346105"/>
            <a:ext cx="6746873" cy="3259455"/>
            <a:chOff x="0" y="0"/>
            <a:chExt cx="8995831" cy="4345940"/>
          </a:xfrm>
        </p:grpSpPr>
        <p:sp>
          <p:nvSpPr>
            <p:cNvPr id="9" name="TextBox 9"/>
            <p:cNvSpPr txBox="1"/>
            <p:nvPr/>
          </p:nvSpPr>
          <p:spPr>
            <a:xfrm>
              <a:off x="0" y="-76200"/>
              <a:ext cx="8995831" cy="3031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99"/>
                </a:lnSpc>
              </a:pPr>
              <a:r>
                <a:rPr lang="en-US" sz="6999" b="1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Image Classification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3638338"/>
              <a:ext cx="7058405" cy="7076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79"/>
                </a:lnSpc>
              </a:pPr>
              <a:r>
                <a:rPr lang="en-US" sz="31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Emotion Prediction Model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0959784" y="1917534"/>
            <a:ext cx="5585113" cy="2857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59"/>
              </a:lnSpc>
              <a:spcBef>
                <a:spcPct val="0"/>
              </a:spcBef>
            </a:pPr>
            <a:r>
              <a:rPr lang="en-US" sz="3799" b="1">
                <a:solidFill>
                  <a:srgbClr val="718BAB"/>
                </a:solidFill>
                <a:latin typeface="Klein Bold"/>
                <a:ea typeface="Klein Bold"/>
                <a:cs typeface="Klein Bold"/>
                <a:sym typeface="Klein Bold"/>
              </a:rPr>
              <a:t>Predicts whether a person in an image is happy or sad using a trained machine learning model.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293769-F0AA-9CAD-9F8C-236E0913462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12176081" y="141384"/>
            <a:ext cx="3152518" cy="6038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BAA0CB0-95DC-1789-46A0-8391543C6A4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8935" y="218786"/>
            <a:ext cx="991877" cy="10385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17261" y="326581"/>
            <a:ext cx="15169191" cy="1332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78"/>
              </a:lnSpc>
            </a:pPr>
            <a:r>
              <a:rPr lang="en-US" sz="8137" b="1" u="sng" dirty="0">
                <a:solidFill>
                  <a:srgbClr val="004AAD"/>
                </a:solidFill>
                <a:latin typeface="Nunito ExtraBold" panose="00000900000000000000" pitchFamily="2" charset="0"/>
                <a:ea typeface="Klein Bold Italics"/>
                <a:cs typeface="Klein Bold Italics"/>
                <a:sym typeface="Klein Bold Italics"/>
              </a:rPr>
              <a:t>Tech Stack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9125919"/>
            <a:ext cx="18288000" cy="1161081"/>
            <a:chOff x="0" y="0"/>
            <a:chExt cx="4816593" cy="3057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305799"/>
            </a:xfrm>
            <a:custGeom>
              <a:avLst/>
              <a:gdLst/>
              <a:ahLst/>
              <a:cxnLst/>
              <a:rect l="l" t="t" r="r" b="b"/>
              <a:pathLst>
                <a:path w="4816592" h="305799">
                  <a:moveTo>
                    <a:pt x="0" y="0"/>
                  </a:moveTo>
                  <a:lnTo>
                    <a:pt x="4816592" y="0"/>
                  </a:lnTo>
                  <a:lnTo>
                    <a:pt x="4816592" y="305799"/>
                  </a:lnTo>
                  <a:lnTo>
                    <a:pt x="0" y="305799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343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944413" y="2473544"/>
            <a:ext cx="15314887" cy="6652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3"/>
              </a:lnSpc>
            </a:pPr>
            <a:r>
              <a:rPr lang="en-US" sz="3766" b="1" dirty="0">
                <a:solidFill>
                  <a:srgbClr val="2A2E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Frontend:</a:t>
            </a:r>
            <a:r>
              <a:rPr lang="en-US" sz="3766" dirty="0">
                <a:solidFill>
                  <a:srgbClr val="2A2E3A"/>
                </a:solidFill>
                <a:latin typeface="Canva Sans"/>
                <a:ea typeface="Canva Sans"/>
                <a:cs typeface="Canva Sans"/>
                <a:sym typeface="Canva Sans"/>
              </a:rPr>
              <a:t> HTML, CSS, JavaScript, Bootstrap</a:t>
            </a:r>
          </a:p>
          <a:p>
            <a:pPr algn="ctr">
              <a:lnSpc>
                <a:spcPts val="5273"/>
              </a:lnSpc>
            </a:pPr>
            <a:endParaRPr lang="en-US" sz="3766" dirty="0">
              <a:solidFill>
                <a:srgbClr val="2A2E3A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5273"/>
              </a:lnSpc>
            </a:pPr>
            <a:r>
              <a:rPr lang="en-US" sz="3766" b="1" dirty="0">
                <a:solidFill>
                  <a:srgbClr val="2A2E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Backend: </a:t>
            </a:r>
            <a:r>
              <a:rPr lang="en-US" sz="3766" dirty="0">
                <a:solidFill>
                  <a:srgbClr val="2A2E3A"/>
                </a:solidFill>
                <a:latin typeface="Canva Sans"/>
                <a:ea typeface="Canva Sans"/>
                <a:cs typeface="Canva Sans"/>
                <a:sym typeface="Canva Sans"/>
              </a:rPr>
              <a:t>Python (Django)</a:t>
            </a:r>
          </a:p>
          <a:p>
            <a:pPr algn="ctr">
              <a:lnSpc>
                <a:spcPts val="5273"/>
              </a:lnSpc>
            </a:pPr>
            <a:endParaRPr lang="en-US" sz="3766" dirty="0">
              <a:solidFill>
                <a:srgbClr val="2A2E3A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5273"/>
              </a:lnSpc>
            </a:pPr>
            <a:r>
              <a:rPr lang="en-US" sz="3766" b="1" dirty="0">
                <a:solidFill>
                  <a:srgbClr val="2A2E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Image Processing:</a:t>
            </a:r>
            <a:r>
              <a:rPr lang="en-US" sz="3766" dirty="0">
                <a:solidFill>
                  <a:srgbClr val="2A2E3A"/>
                </a:solidFill>
                <a:latin typeface="Canva Sans"/>
                <a:ea typeface="Canva Sans"/>
                <a:cs typeface="Canva Sans"/>
                <a:sym typeface="Canva Sans"/>
              </a:rPr>
              <a:t> OpenCV</a:t>
            </a:r>
          </a:p>
          <a:p>
            <a:pPr algn="ctr">
              <a:lnSpc>
                <a:spcPts val="5273"/>
              </a:lnSpc>
            </a:pPr>
            <a:endParaRPr lang="en-US" sz="3766" dirty="0">
              <a:solidFill>
                <a:srgbClr val="2A2E3A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5273"/>
              </a:lnSpc>
            </a:pPr>
            <a:r>
              <a:rPr lang="en-US" sz="3766" b="1" dirty="0">
                <a:solidFill>
                  <a:srgbClr val="2A2E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Machine Learning:</a:t>
            </a:r>
            <a:r>
              <a:rPr lang="en-US" sz="3766" dirty="0">
                <a:solidFill>
                  <a:srgbClr val="2A2E3A"/>
                </a:solidFill>
                <a:latin typeface="Canva Sans"/>
                <a:ea typeface="Canva Sans"/>
                <a:cs typeface="Canva Sans"/>
                <a:sym typeface="Canva Sans"/>
              </a:rPr>
              <a:t> TensorFlow</a:t>
            </a:r>
          </a:p>
          <a:p>
            <a:pPr algn="ctr">
              <a:lnSpc>
                <a:spcPts val="5273"/>
              </a:lnSpc>
            </a:pPr>
            <a:endParaRPr lang="en-US" sz="3766" dirty="0">
              <a:solidFill>
                <a:srgbClr val="2A2E3A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5273"/>
              </a:lnSpc>
            </a:pPr>
            <a:r>
              <a:rPr lang="en-US" sz="3766" b="1" dirty="0">
                <a:solidFill>
                  <a:srgbClr val="2A2E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Database:</a:t>
            </a:r>
            <a:r>
              <a:rPr lang="en-US" sz="3766" dirty="0">
                <a:solidFill>
                  <a:srgbClr val="2A2E3A"/>
                </a:solidFill>
                <a:latin typeface="Canva Sans"/>
                <a:ea typeface="Canva Sans"/>
                <a:cs typeface="Canva Sans"/>
                <a:sym typeface="Canva Sans"/>
              </a:rPr>
              <a:t> SQLite</a:t>
            </a:r>
          </a:p>
          <a:p>
            <a:pPr algn="ctr">
              <a:lnSpc>
                <a:spcPts val="5273"/>
              </a:lnSpc>
            </a:pPr>
            <a:endParaRPr lang="en-US" sz="3766" dirty="0">
              <a:solidFill>
                <a:srgbClr val="2A2E3A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D6050A-EF97-1ACB-09C3-3D22B78D6E9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13118221" y="38100"/>
            <a:ext cx="3152518" cy="6038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B15C84-C108-6C19-F93A-BD2333D25D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8935" y="218786"/>
            <a:ext cx="991877" cy="10385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73413">
            <a:off x="9143134" y="-1998024"/>
            <a:ext cx="14576625" cy="14576625"/>
          </a:xfrm>
          <a:custGeom>
            <a:avLst/>
            <a:gdLst/>
            <a:ahLst/>
            <a:cxnLst/>
            <a:rect l="l" t="t" r="r" b="b"/>
            <a:pathLst>
              <a:path w="14576625" h="14576625">
                <a:moveTo>
                  <a:pt x="0" y="0"/>
                </a:moveTo>
                <a:lnTo>
                  <a:pt x="14576625" y="0"/>
                </a:lnTo>
                <a:lnTo>
                  <a:pt x="14576625" y="14576625"/>
                </a:lnTo>
                <a:lnTo>
                  <a:pt x="0" y="145766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004291" y="3351321"/>
            <a:ext cx="6696711" cy="2292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1">
                <a:solidFill>
                  <a:srgbClr val="F4F4F4"/>
                </a:solidFill>
                <a:latin typeface="Klein Bold"/>
                <a:ea typeface="Klein Bold"/>
                <a:cs typeface="Klein Bold"/>
                <a:sym typeface="Klein Bold"/>
              </a:rPr>
              <a:t>Future Enhancements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5546" y="1863418"/>
            <a:ext cx="8361103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2850" lvl="1" indent="-401425" algn="l">
              <a:lnSpc>
                <a:spcPts val="4462"/>
              </a:lnSpc>
              <a:buFont typeface="Arial"/>
              <a:buChar char="•"/>
            </a:pPr>
            <a:r>
              <a:rPr lang="en-US" sz="3718" b="1" dirty="0">
                <a:solidFill>
                  <a:srgbClr val="004AAD"/>
                </a:solidFill>
                <a:latin typeface="Klein Bold"/>
                <a:ea typeface="Klein Bold"/>
                <a:cs typeface="Klein Bold"/>
                <a:sym typeface="Klein Bold"/>
              </a:rPr>
              <a:t>Support for additional image filters and transformations.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5546" y="3928859"/>
            <a:ext cx="7551316" cy="169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2850" lvl="1" indent="-401425" algn="l">
              <a:lnSpc>
                <a:spcPts val="4462"/>
              </a:lnSpc>
              <a:buFont typeface="Arial"/>
              <a:buChar char="•"/>
            </a:pPr>
            <a:r>
              <a:rPr lang="en-US" sz="3718" b="1" dirty="0">
                <a:solidFill>
                  <a:srgbClr val="004AAD"/>
                </a:solidFill>
                <a:latin typeface="Klein Bold"/>
                <a:ea typeface="Klein Bold"/>
                <a:cs typeface="Klein Bold"/>
                <a:sym typeface="Klein Bold"/>
              </a:rPr>
              <a:t> Multi-class emotion detection (e.g., surprise, anger, neutral).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75546" y="6728132"/>
            <a:ext cx="7551316" cy="169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2850" lvl="1" indent="-401425" algn="l">
              <a:lnSpc>
                <a:spcPts val="4462"/>
              </a:lnSpc>
              <a:buFont typeface="Arial"/>
              <a:buChar char="•"/>
            </a:pPr>
            <a:r>
              <a:rPr lang="en-US" sz="3718" b="1" dirty="0">
                <a:solidFill>
                  <a:srgbClr val="004AAD"/>
                </a:solidFill>
                <a:latin typeface="Klein Bold"/>
                <a:ea typeface="Klein Bold"/>
                <a:cs typeface="Klein Bold"/>
                <a:sym typeface="Klein Bold"/>
              </a:rPr>
              <a:t>Real-time webcam analysis for live emotion recognition.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4303" y="7623284"/>
            <a:ext cx="7551316" cy="575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2850" lvl="1" indent="-401425" algn="l">
              <a:lnSpc>
                <a:spcPts val="4462"/>
              </a:lnSpc>
              <a:buFont typeface="Arial"/>
              <a:buChar char="•"/>
            </a:pPr>
            <a:endParaRPr lang="en-US" sz="3718" b="1" dirty="0">
              <a:solidFill>
                <a:srgbClr val="004AAD"/>
              </a:solidFill>
              <a:latin typeface="Klein Bold"/>
              <a:ea typeface="Klein Bold"/>
              <a:cs typeface="Klein Bold"/>
              <a:sym typeface="Klein Bol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BBAD37-AD36-76F1-4770-6085CFC5AAF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1" t="16832" b="13861"/>
          <a:stretch/>
        </p:blipFill>
        <p:spPr>
          <a:xfrm>
            <a:off x="9964682" y="136603"/>
            <a:ext cx="3152518" cy="6038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1DFCBE-F224-F820-64EC-848AC74781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7019" y="136603"/>
            <a:ext cx="991877" cy="10385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176</Words>
  <Application>Microsoft Office PowerPoint</Application>
  <PresentationFormat>Custom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Klein Bold</vt:lpstr>
      <vt:lpstr>Arial</vt:lpstr>
      <vt:lpstr>Canva Sans</vt:lpstr>
      <vt:lpstr>Nunito ExtraBold</vt:lpstr>
      <vt:lpstr>Calibri</vt:lpstr>
      <vt:lpstr>Canva Sans Bold</vt:lpstr>
      <vt:lpstr>Helios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 Presentation</dc:title>
  <cp:lastModifiedBy>Satyam Maru</cp:lastModifiedBy>
  <cp:revision>4</cp:revision>
  <dcterms:created xsi:type="dcterms:W3CDTF">2006-08-16T00:00:00Z</dcterms:created>
  <dcterms:modified xsi:type="dcterms:W3CDTF">2025-02-22T03:21:05Z</dcterms:modified>
  <dc:identifier>DAGfwsepfuo</dc:identifier>
</cp:coreProperties>
</file>